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731520"/>
            <a:ext cx="1280160" cy="1280160"/>
          </a:xfrm>
          <a:prstGeom prst="ellipse">
            <a:avLst/>
          </a:prstGeom>
          <a:solidFill>
            <a:srgbClr val="2E86C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731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</a:rPr>
              <a:t>INCIDENTSTANDARD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5C1E9"/>
                </a:solidFill>
              </a:rPr>
              <a:t>incidentstandard.com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246120"/>
            <a:ext cx="2743200" cy="274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AF8"/>
                </a:solidFill>
              </a:rPr>
              <a:t>The Global Workplace Safety Operating System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D6F1"/>
                </a:solidFill>
              </a:rPr>
              <a:t>"Always There. Always Ready. Always For You."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8AA8"/>
                </a:solidFill>
              </a:rPr>
              <a:t>INVESTOR PRESENTATION  |  2025  |  CONFIDENTIAL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</a:rPr>
              <a:t>Workplace safety management is broken globally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548640" cy="548640"/>
          </a:xfrm>
          <a:prstGeom prst="ellipse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</a:rPr>
              <a:t>Underreporting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Employees don't know how to report or fear consequences. Incidents go undocumented.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325880"/>
            <a:ext cx="548640" cy="548640"/>
          </a:xfrm>
          <a:prstGeom prst="ellipse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32120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</a:rPr>
              <a:t>Delayed Response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783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No real-time emergency guidance. Critical first minutes wasted with no direction.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154680"/>
            <a:ext cx="548640" cy="548640"/>
          </a:xfrm>
          <a:prstGeom prst="ellipse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182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</a:rPr>
              <a:t>Compliance Risk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Organizations juggle multiple tools across jurisdictions with no unified standard.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154680"/>
            <a:ext cx="548640" cy="548640"/>
          </a:xfrm>
          <a:prstGeom prst="ellipse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3182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</a:rPr>
              <a:t>Zero Learning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Incidents are filed and forgotten. No mechanism to learn from global patterns.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The ILO estimates work-related incidents cost 4% of global GDP annually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2D45"/>
          </a:solidFill>
          <a:ln w="12700">
            <a:solidFill>
              <a:srgbClr val="152D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</a:rPr>
              <a:t>One platform. Every incident. Every organization. Every jurisdiction.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51760" cy="1508760"/>
          </a:xfrm>
          <a:prstGeom prst="rect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Incident Reporting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1508760"/>
          </a:xfrm>
          <a:prstGeom prst="rect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46120" y="1645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Emergency Response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143000"/>
            <a:ext cx="2651760" cy="1508760"/>
          </a:xfrm>
          <a:prstGeom prst="rect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80760" y="1645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 Safety Check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2651760" cy="1508760"/>
          </a:xfrm>
          <a:prstGeom prst="rect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114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Knowledge Engine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2834640"/>
            <a:ext cx="2651760" cy="1508760"/>
          </a:xfrm>
          <a:prstGeom prst="rect">
            <a:avLst/>
          </a:prstGeom>
          <a:solidFill>
            <a:srgbClr val="D35400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4612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Training + CPD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2834640"/>
            <a:ext cx="2651760" cy="1508760"/>
          </a:xfrm>
          <a:prstGeom prst="rect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8076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Compliance Calendar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</a:rPr>
              <a:t>+ Company Resource Hub  |  Jurisdiction Intelligence  |  Psychological Support Layer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DOCTRINE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</a:rPr>
              <a:t>The philosophy that makes IncidentStandard different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7315200" cy="11887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1887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"No employee should ever face an incident alone,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unprepared, or unsupported."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560320"/>
            <a:ext cx="64008" cy="10972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Employee-First 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443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Every feature passes one test: does it make an employee feel safer, calmer, and more supported?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56032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560320"/>
            <a:ext cx="64008" cy="10972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Tension-Free Experience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9443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The platform is a calm companion, not a compliance burden. Employees feel covered — before anything goes wrong.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94760"/>
            <a:ext cx="64008" cy="10972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Nudge to Standards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178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The AI gently guides organizations toward global best practice at every step, not just when an incident occurs.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79476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794760"/>
            <a:ext cx="64008" cy="10972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Human + AI Together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41788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</a:rPr>
              <a:t>Case officers verify every report. AI handles the routine. Humans handle the judgment calls.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</a:rPr>
              <a:t>From incident to resolution — AI-guided at every step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463040" cy="3474720"/>
          </a:xfrm>
          <a:prstGeom prst="rect">
            <a:avLst/>
          </a:prstGeom>
          <a:solidFill>
            <a:srgbClr val="2980B9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2344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46304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Employee Reports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1463040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Types incident — AI activates immediately, asks conversational questions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47088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29968" y="1143000"/>
            <a:ext cx="1463040" cy="3474720"/>
          </a:xfrm>
          <a:prstGeom prst="rect">
            <a:avLst/>
          </a:prstGeom>
          <a:solidFill>
            <a:srgbClr val="C0392B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12344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29968" y="1965960"/>
            <a:ext cx="146304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Triages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29968" y="2606040"/>
            <a:ext cx="1463040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Emergency codes flash, MSDS pulled, evacuation plans surfaced, alerts sent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11296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94176" y="1143000"/>
            <a:ext cx="1463040" cy="3474720"/>
          </a:xfrm>
          <a:prstGeom prst="rect">
            <a:avLst/>
          </a:prstGeom>
          <a:solidFill>
            <a:srgbClr val="8E44AD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05656" y="12344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05656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44AD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94176" y="1965960"/>
            <a:ext cx="146304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Case Officer Verifies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94176" y="2606040"/>
            <a:ext cx="1463040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Human verification — quality, accuracy, escalation decisions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75504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58384" y="1143000"/>
            <a:ext cx="1463040" cy="3474720"/>
          </a:xfrm>
          <a:prstGeom prst="rect">
            <a:avLst/>
          </a:prstGeom>
          <a:solidFill>
            <a:srgbClr val="27AE60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69864" y="12344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9864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58384" y="1965960"/>
            <a:ext cx="146304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H&amp;S Officer Manages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58384" y="2606040"/>
            <a:ext cx="1463040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Full case management, compliance report auto-generated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39712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22592" y="1143000"/>
            <a:ext cx="1463040" cy="3474720"/>
          </a:xfrm>
          <a:prstGeom prst="rect">
            <a:avLst/>
          </a:prstGeom>
          <a:solidFill>
            <a:srgbClr val="D35400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34072" y="12344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34072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35400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22592" y="1965960"/>
            <a:ext cx="146304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Learns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22592" y="2606040"/>
            <a:ext cx="1463040" cy="1828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Anonymized data feeds global knowledge repository — everyone benefits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C1"/>
                </a:solidFill>
              </a:rPr>
              <a:t>Every incident feeds the AI Knowledge Repository — making every future incident smarter to handle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FOUR ACCESS PORTALS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</a:rPr>
              <a:t>Right information. Right person. Right moment.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02336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16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Employee Portal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Incident submission, emergency guidance, training, safety check-in, wellbeing follow-ups. Mobile-first. Unlimited access via org code.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43000"/>
            <a:ext cx="4023360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16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H&amp;S Officer Portal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67335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Full case management, live evacuation dashboard, compliance reports, AI analytics. Up to 5 named accounts per organization.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233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4023360" cy="4572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90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Authority Portal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54787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Executive KPIs, audit trails, compliance health score, regulatory reporting. Board-ready dashboards in one click.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0233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D35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17520"/>
            <a:ext cx="4023360" cy="45720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090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Case Officer Portal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54787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Incident verification, quality control, escalation management. The human intelligence layer that makes IncidentStandard trusted.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2D45"/>
          </a:solidFill>
          <a:ln w="12700">
            <a:solidFill>
              <a:srgbClr val="152D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445+ INCIDENT TYPES — 21 CATEGORIES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</a:rPr>
              <a:t>The most comprehensive incident taxonomy ever assembled — incl. Road Transport &amp; Mobile Workforce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600200" cy="685800"/>
          </a:xfrm>
          <a:prstGeom prst="rect">
            <a:avLst/>
          </a:prstGeom>
          <a:solidFill>
            <a:srgbClr val="2980B9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Health &amp; Medical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0" y="1143000"/>
            <a:ext cx="1600200" cy="685800"/>
          </a:xfrm>
          <a:prstGeom prst="rect">
            <a:avLst/>
          </a:prstGeom>
          <a:solidFill>
            <a:srgbClr val="C0392B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143000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Fire &amp; Explosion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749040" y="1143000"/>
            <a:ext cx="1600200" cy="685800"/>
          </a:xfrm>
          <a:prstGeom prst="rect">
            <a:avLst/>
          </a:prstGeom>
          <a:solidFill>
            <a:srgbClr val="F39C12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143000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Electrical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0" y="1143000"/>
            <a:ext cx="1600200" cy="685800"/>
          </a:xfrm>
          <a:prstGeom prst="rect">
            <a:avLst/>
          </a:prstGeom>
          <a:solidFill>
            <a:srgbClr val="8E44AD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143000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Chemical &amp; Hazardous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223760" y="1143000"/>
            <a:ext cx="1600200" cy="685800"/>
          </a:xfrm>
          <a:prstGeom prst="rect">
            <a:avLst/>
          </a:prstGeom>
          <a:solidFill>
            <a:srgbClr val="27AE60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143000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Construction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947672"/>
            <a:ext cx="1600200" cy="685800"/>
          </a:xfrm>
          <a:prstGeom prst="rect">
            <a:avLst/>
          </a:prstGeom>
          <a:solidFill>
            <a:srgbClr val="1ABC9C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47672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Workplace Injuries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11680" y="1947672"/>
            <a:ext cx="1600200" cy="685800"/>
          </a:xfrm>
          <a:prstGeom prst="rect">
            <a:avLst/>
          </a:prstGeom>
          <a:solidFill>
            <a:srgbClr val="D35400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1947672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Mental Health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49040" y="1947672"/>
            <a:ext cx="1600200" cy="685800"/>
          </a:xfrm>
          <a:prstGeom prst="rect">
            <a:avLst/>
          </a:prstGeom>
          <a:solidFill>
            <a:srgbClr val="2C3E50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947672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Conduct &amp; HR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0" y="1947672"/>
            <a:ext cx="1600200" cy="685800"/>
          </a:xfrm>
          <a:prstGeom prst="rect">
            <a:avLst/>
          </a:prstGeom>
          <a:solidFill>
            <a:srgbClr val="E74C3C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1947672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Security &amp; Crime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23760" y="1947672"/>
            <a:ext cx="1600200" cy="685800"/>
          </a:xfrm>
          <a:prstGeom prst="rect">
            <a:avLst/>
          </a:prstGeom>
          <a:solidFill>
            <a:srgbClr val="16A085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1947672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Vehicle &amp; Transport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752344"/>
            <a:ext cx="1600200" cy="685800"/>
          </a:xfrm>
          <a:prstGeom prst="rect">
            <a:avLst/>
          </a:prstGeom>
          <a:solidFill>
            <a:srgbClr val="2ECC71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752344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Natural Disasters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11680" y="2752344"/>
            <a:ext cx="1600200" cy="685800"/>
          </a:xfrm>
          <a:prstGeom prst="rect">
            <a:avLst/>
          </a:prstGeom>
          <a:solidFill>
            <a:srgbClr val="9B59B6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2752344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Equipment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49040" y="2752344"/>
            <a:ext cx="1600200" cy="685800"/>
          </a:xfrm>
          <a:prstGeom prst="rect">
            <a:avLst/>
          </a:prstGeom>
          <a:solidFill>
            <a:srgbClr val="3498DB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2752344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Cyber &amp; Data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0" y="2752344"/>
            <a:ext cx="1600200" cy="685800"/>
          </a:xfrm>
          <a:prstGeom prst="rect">
            <a:avLst/>
          </a:prstGeom>
          <a:solidFill>
            <a:srgbClr val="E67E22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2752344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Aviation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23760" y="2752344"/>
            <a:ext cx="1600200" cy="685800"/>
          </a:xfrm>
          <a:prstGeom prst="rect">
            <a:avLst/>
          </a:prstGeom>
          <a:solidFill>
            <a:srgbClr val="1A5276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2752344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Marine &amp; Maritime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557016"/>
            <a:ext cx="1600200" cy="685800"/>
          </a:xfrm>
          <a:prstGeom prst="rect">
            <a:avLst/>
          </a:prstGeom>
          <a:solidFill>
            <a:srgbClr val="7F8C8D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557016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Mining &amp; Resources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11680" y="3557016"/>
            <a:ext cx="1600200" cy="685800"/>
          </a:xfrm>
          <a:prstGeom prst="rect">
            <a:avLst/>
          </a:prstGeom>
          <a:solidFill>
            <a:srgbClr val="2ECC71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0" y="3557016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Agriculture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749040" y="3557016"/>
            <a:ext cx="1600200" cy="685800"/>
          </a:xfrm>
          <a:prstGeom prst="rect">
            <a:avLst/>
          </a:prstGeom>
          <a:solidFill>
            <a:srgbClr val="C0392B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3557016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Education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0" y="3557016"/>
            <a:ext cx="1600200" cy="685800"/>
          </a:xfrm>
          <a:prstGeom prst="rect">
            <a:avLst/>
          </a:prstGeom>
          <a:solidFill>
            <a:srgbClr val="F39C12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0" y="3557016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Food &amp; Hospitality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223760" y="3557016"/>
            <a:ext cx="1600200" cy="685800"/>
          </a:xfrm>
          <a:prstGeom prst="rect">
            <a:avLst/>
          </a:prstGeom>
          <a:solidFill>
            <a:srgbClr val="27AE60">
              <a:alpha val="7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3557016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Public Spaces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4361688"/>
            <a:ext cx="1600200" cy="685800"/>
          </a:xfrm>
          <a:prstGeom prst="rect">
            <a:avLst/>
          </a:prstGeom>
          <a:solidFill>
            <a:srgbClr val="E8945A">
              <a:alpha val="9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361688"/>
            <a:ext cx="16002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🚗 Road Transport &amp; Mobile Workforce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</a:rPr>
              <a:t>Every category powers: AI routing  •  Emergency codes  •  MSDS triggers  •  Training modules  •  Compliance reports  •  CPD certificates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BUSINESS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</a:rPr>
              <a:t>Simple. Transparent. Scalable.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743200" cy="3200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39C12"/>
                </a:solidFill>
              </a:rPr>
              <a:t>$399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2-YEAR FLAT LICENSE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</a:rPr>
              <a:t>One price.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</a:rPr>
              <a:t>Every organization.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</a:rPr>
              <a:t>Globally.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&lt; $17/month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14300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12618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EVERYTHING INCLUDED: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6642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</a:rPr>
              <a:t>✓  5 named H&amp;S Officer accounts (max 7)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0" y="19933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</a:rPr>
              <a:t>✓  Unlimited employee access via org code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66160" y="23225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</a:rPr>
              <a:t>✓  All 7 platform modules included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66160" y="2651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</a:rPr>
              <a:t>✓  All compliance standards built 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66160" y="29809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</a:rPr>
              <a:t>✓  Full AI knowledge engine access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66160" y="33101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</a:rPr>
              <a:t>✓  Training modules + CPD certificates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66160" y="36393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</a:rPr>
              <a:t>✓  Credit card OR invoice payment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39684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</a:rPr>
              <a:t>✓  No per-user fees. Ever.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C1"/>
                </a:solidFill>
              </a:rPr>
              <a:t>Revenue at 25,000 orgs: $9.975M  •  At 100,000 orgs: $39.9M  •  Millions of eligible workplaces globally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MARKET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</a:rPr>
              <a:t>A global market with no dominant universal solution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20240" cy="1645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300M+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92024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Formal workplaces globally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920240" cy="1645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$8.6B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68880" y="2103120"/>
            <a:ext cx="192024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EHS software market 2024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1920240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4%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192024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Of GDP lost to workplace incidents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143000"/>
            <a:ext cx="1920240" cy="1645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188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$399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675120" y="2103120"/>
            <a:ext cx="192024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Lowest barrier to entry in the market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</a:rPr>
              <a:t>OUR TARGET UNIVERSE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4290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Private Employers (5+ staff)  |  200M+ orgs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30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Legally required H&amp;S compliance globally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4290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474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Government Bodies  |  Millions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730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Federal, state, local agencies in every country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60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NGOs &amp; Charities  |  10M+ orgs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416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Field operations in high-risk environments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41148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160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Healthcare Providers  |  Global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4416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Strict incident reporting regulatory requirements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COMPETITIVE ADVANTAGE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</a:rPr>
              <a:t>Why IncidentStandard wins where others cannot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84048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265176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IncidentStandard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Legacy Competitors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4F72"/>
                          </a:solidFill>
                        </a:rPr>
                        <a:t>Pricing model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6B1A"/>
                          </a:solidFill>
                        </a:rPr>
                        <a:t>$399 flat / 2 years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B0000"/>
                          </a:solidFill>
                        </a:rPr>
                        <a:t>Complex per-module, per-user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4F72"/>
                          </a:solidFill>
                        </a:rPr>
                        <a:t>Incident types covered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6B1A"/>
                          </a:solidFill>
                        </a:rPr>
                        <a:t>445+ types, 21 categories incl. transport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B0000"/>
                          </a:solidFill>
                        </a:rPr>
                        <a:t>Sector-specific only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4F72"/>
                          </a:solidFill>
                        </a:rPr>
                        <a:t>AI report writing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6B1A"/>
                          </a:solidFill>
                        </a:rPr>
                        <a:t>Conversational, auto-generated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B0000"/>
                          </a:solidFill>
                        </a:rPr>
                        <a:t>Blank form approach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4F72"/>
                          </a:solidFill>
                        </a:rPr>
                        <a:t>Case officer verification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6B1A"/>
                          </a:solidFill>
                        </a:rPr>
                        <a:t>Built-in unique model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B0000"/>
                          </a:solidFill>
                        </a:rPr>
                        <a:t>Not offered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4F72"/>
                          </a:solidFill>
                        </a:rPr>
                        <a:t>Live safety check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6B1A"/>
                          </a:solidFill>
                        </a:rPr>
                        <a:t>Personalized digital roll call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B0000"/>
                          </a:solidFill>
                        </a:rPr>
                        <a:t>Not offered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4F72"/>
                          </a:solidFill>
                        </a:rPr>
                        <a:t>Training + CPD built-in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6B1A"/>
                          </a:solidFill>
                        </a:rPr>
                        <a:t>Full LMS, no extra tool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B0000"/>
                          </a:solidFill>
                        </a:rPr>
                        <a:t>Separate tool required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4F72"/>
                          </a:solidFill>
                        </a:rPr>
                        <a:t>Employee-first design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6B1A"/>
                          </a:solidFill>
                        </a:rPr>
                        <a:t>Core doctrine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B0000"/>
                          </a:solidFill>
                        </a:rPr>
                        <a:t>Compliance-first design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4F72"/>
                          </a:solidFill>
                        </a:rPr>
                        <a:t>Global standards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6B1A"/>
                          </a:solidFill>
                        </a:rPr>
                        <a:t>ISO, OSHA, HSE, EU all built-in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B0000"/>
                          </a:solidFill>
                        </a:rPr>
                        <a:t>Add-on modules required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C1"/>
                </a:solidFill>
              </a:rPr>
              <a:t>Our AI knowledge repository creates compounding network effects — more orgs = smarter AI = more value = more orgs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ROADMAP TO GLOBAL STANDARD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</a:rPr>
              <a:t>Phased execution — validate, grow, dominate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6858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Year 1  |  Launch &amp; Validate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•  Build MVP — reporting + emergency + H&amp;S portal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•  3 pilot organizations (gov, NGO, corporate)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•  2,500 paying organizations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•  $997K revenue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•  Self-serve sign-up live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143000"/>
            <a:ext cx="265176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143000"/>
            <a:ext cx="265176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1704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Year 2  |  Grow &amp; Partner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19202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•  Training platform + CPD launch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2468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•  Industry association partnerships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3017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•  Reseller program in 5 key markets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5661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•  10,000 paying organizations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4114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•  $3.99M revenue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143000"/>
            <a:ext cx="265176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143000"/>
            <a:ext cx="265176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1704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350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Year 3+  |  Scale &amp; Dominate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19202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•  Government tender contracts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2468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•  Insurance data partnerships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3017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•  20+ language support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5661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•  100,000 organizations target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4114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•  $39.9M revenue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INVESTMENT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AF8"/>
                </a:solidFill>
              </a:rPr>
              <a:t>Join us in building the global standard for workplace safety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265176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</a:rPr>
              <a:t>40%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Platform Development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2677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AI engine, mobile apps, all 4 portals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5176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</a:rPr>
              <a:t>30%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 — Year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22677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Product, compliance, sales, development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280160"/>
            <a:ext cx="265176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</a:rPr>
              <a:t>15%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8076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Sales &amp; Marketing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22677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Launch campaigns, partnerships, events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880360"/>
            <a:ext cx="265176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71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</a:rPr>
              <a:t>10%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1148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Legal &amp; 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8679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IP protection, compliance, entity setup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2880360"/>
            <a:ext cx="265176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971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</a:rPr>
              <a:t>5%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24612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38679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Infrastructure, tooling, hosting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371600" y="4343400"/>
            <a:ext cx="6400800" cy="594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371600" y="43434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Funding amount and equity terms available under NDA  |  contact@incidentstandard.com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731520"/>
            <a:ext cx="1280160" cy="1280160"/>
          </a:xfrm>
          <a:prstGeom prst="ellipse">
            <a:avLst/>
          </a:prstGeom>
          <a:solidFill>
            <a:srgbClr val="2E86C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731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</a:rPr>
              <a:t>INCIDENTSTANDARD.COM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2880360"/>
            <a:ext cx="457200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AF8"/>
                </a:solidFill>
              </a:rPr>
              <a:t>"You are now covered.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6EAF8"/>
                </a:solidFill>
              </a:rPr>
              <a:t>Whatever happens at work —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6EAF8"/>
                </a:solidFill>
              </a:rPr>
              <a:t>you are never alone."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D8AA8"/>
                </a:solidFill>
              </a:rPr>
              <a:t>The Global Standard for Workplace Safety Intelligence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IncidentStandard — Investor Pitch Deck</dc:title>
  <dc:subject>PptxGenJS Presentation</dc:subject>
  <dc:creator>PptxGenJS</dc:creator>
  <cp:lastModifiedBy>PptxGenJS</cp:lastModifiedBy>
  <cp:revision>1</cp:revision>
  <dcterms:created xsi:type="dcterms:W3CDTF">2026-03-09T06:18:00Z</dcterms:created>
  <dcterms:modified xsi:type="dcterms:W3CDTF">2026-03-09T06:18:00Z</dcterms:modified>
</cp:coreProperties>
</file>