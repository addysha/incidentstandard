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NEW VERTICAL: ROAD TRANSPORT &amp; MOBILE WORKFORCE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</a:rPr>
              <a:t>Category 21 — 41 new incident types  |  Doubles total addressable market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2743200" cy="475488"/>
          </a:xfrm>
          <a:prstGeom prst="rect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WHO IT COVERS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FEF0E6"/>
          </a:solidFill>
          <a:ln w="12700">
            <a:solidFill>
              <a:srgbClr val="FEF0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</a:rPr>
              <a:t>Rideshare Drivers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38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Uber, Bolt, Lyft, DiDi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FEF0E6"/>
          </a:solidFill>
          <a:ln w="12700">
            <a:solidFill>
              <a:srgbClr val="FEF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23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423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</a:rPr>
              <a:t>Taxi / Private Hire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624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Licensed operators globally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FEF0E6"/>
          </a:solidFill>
          <a:ln w="12700">
            <a:solidFill>
              <a:srgbClr val="FEF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08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</a:rPr>
              <a:t>Public Bus &amp; Coach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310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Metro, intercity, school bus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411480" cy="411480"/>
          </a:xfrm>
          <a:prstGeom prst="ellipse">
            <a:avLst/>
          </a:prstGeom>
          <a:solidFill>
            <a:srgbClr val="FEF0E6"/>
          </a:solidFill>
          <a:ln w="12700">
            <a:solidFill>
              <a:srgbClr val="FEF0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🚚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</a:rPr>
              <a:t>Freight &amp; Delivery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9959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</a:rPr>
              <a:t>DHL, FedEx, couriers, logistics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1097280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097280"/>
            <a:ext cx="283464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109728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INCIDENT CATEGORIES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1691640"/>
            <a:ext cx="2560320" cy="548640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1691640"/>
            <a:ext cx="54864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17465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2F"/>
                </a:solidFill>
              </a:rPr>
              <a:t>Passenger Violence &amp; Behaviour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200253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12 types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2350008"/>
            <a:ext cx="2560320" cy="548640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2350008"/>
            <a:ext cx="54864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24048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2F"/>
                </a:solidFill>
              </a:rPr>
              <a:t>Vehicle Incidents &amp; Accidents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520440" y="26609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10 types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0" y="3008376"/>
            <a:ext cx="2560320" cy="548640"/>
          </a:xfrm>
          <a:prstGeom prst="rect">
            <a:avLst/>
          </a:prstGeom>
          <a:solidFill>
            <a:srgbClr val="8E44AD">
              <a:alpha val="12000"/>
            </a:srgbClr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3008376"/>
            <a:ext cx="54864" cy="5486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0632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2F"/>
                </a:solidFill>
              </a:rPr>
              <a:t>Driver Health &amp; Welfare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20440" y="33192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9 types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383280" y="3666744"/>
            <a:ext cx="2560320" cy="548640"/>
          </a:xfrm>
          <a:prstGeom prst="rect">
            <a:avLst/>
          </a:prstGeom>
          <a:solidFill>
            <a:srgbClr val="2980B9">
              <a:alpha val="12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0" y="3666744"/>
            <a:ext cx="54864" cy="5486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37216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2F"/>
                </a:solidFill>
              </a:rPr>
              <a:t>Freight &amp; Delivery Specific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20440" y="3977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7 types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83280" y="4325112"/>
            <a:ext cx="2560320" cy="548640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3280" y="4325112"/>
            <a:ext cx="54864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4379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2F"/>
                </a:solidFill>
              </a:rPr>
              <a:t>Environmental &amp; Road Conditions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520440" y="46360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5 types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63640" y="109728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F0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3640" y="1097280"/>
            <a:ext cx="2560320" cy="47548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10972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27648" y="1764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🆘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675120" y="174650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One-tap DRIVER SOS button — silent police alert + GPS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27648" y="2331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📍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675120" y="231343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Live GPS streaming to dispatch during active threat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27648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📷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675120" y="28803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Dashcam footage preservation triggered automatically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327648" y="3465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675120" y="3447288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Lone driver welfare check — escalates to police at T+30min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327648" y="4032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6675120" y="4014216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Passenger QR code — bidirectional safety reporting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27648" y="4599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🧠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6675120" y="4581144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AI triage: severity scale, de-escalation guidance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4754880"/>
            <a:ext cx="196596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754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41  New incident types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514600" y="4754880"/>
            <a:ext cx="196596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14600" y="4754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 New portals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663440" y="4754880"/>
            <a:ext cx="196596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663440" y="4754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&lt;$8  Per driver / 2 years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12280" y="4754880"/>
            <a:ext cx="196596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12280" y="4754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2×  TAM increase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2D45"/>
          </a:solidFill>
          <a:ln w="12700">
            <a:solidFill>
              <a:srgbClr val="152D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DRIVER SOS —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AF8"/>
                </a:solidFill>
              </a:rPr>
              <a:t>From driver distress to police response — in under 10 seconds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536192" cy="3200400"/>
          </a:xfrm>
          <a:prstGeom prst="rect">
            <a:avLst/>
          </a:prstGeom>
          <a:solidFill>
            <a:srgbClr val="E74C3C">
              <a:alpha val="85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53619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Driver Taps SOS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1536192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One button. No typing. Works even if phone is in pocket.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2024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AF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66544" y="1143000"/>
            <a:ext cx="1536192" cy="3200400"/>
          </a:xfrm>
          <a:prstGeom prst="rect">
            <a:avLst/>
          </a:prstGeom>
          <a:solidFill>
            <a:srgbClr val="E67E22">
              <a:alpha val="85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66544" y="1965960"/>
            <a:ext cx="153619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Silent Alert Sent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2578608"/>
            <a:ext cx="1536192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Police, dispatch, and operator notified simultaneously — passenger unaware.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21024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AF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67328" y="1143000"/>
            <a:ext cx="1536192" cy="3200400"/>
          </a:xfrm>
          <a:prstGeom prst="rect">
            <a:avLst/>
          </a:prstGeom>
          <a:solidFill>
            <a:srgbClr val="F39C12">
              <a:alpha val="85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15384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67328" y="1965960"/>
            <a:ext cx="153619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GPS Locked &amp; Streaming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67328" y="2578608"/>
            <a:ext cx="1536192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Live location streamed to police and operator in real time.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21808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AF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68112" y="1143000"/>
            <a:ext cx="1536192" cy="3200400"/>
          </a:xfrm>
          <a:prstGeom prst="rect">
            <a:avLst/>
          </a:prstGeom>
          <a:solidFill>
            <a:srgbClr val="27AE60">
              <a:alpha val="85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16168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16168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68112" y="1965960"/>
            <a:ext cx="153619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Dashcam Preserved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68112" y="2578608"/>
            <a:ext cx="1536192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Footage preservation triggered. Cannot be overwritten.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22592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AF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68896" y="1143000"/>
            <a:ext cx="1536192" cy="3200400"/>
          </a:xfrm>
          <a:prstGeom prst="rect">
            <a:avLst/>
          </a:prstGeom>
          <a:solidFill>
            <a:srgbClr val="2980B9">
              <a:alpha val="85000"/>
            </a:srgbClr>
          </a:solidFill>
          <a:ln w="63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16952" y="12344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6952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980B9"/>
                </a:solidFill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68896" y="1965960"/>
            <a:ext cx="1536192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Passenger Data Locked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68896" y="2578608"/>
            <a:ext cx="1536192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Trip history, account, photo — all secured as evidence instantly.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</a:rPr>
              <a:t>🕐  LONE DRIVER WELFARE CHECK:  Driver checks in every 60 mins  →  T+10: Dispatch alert  →  T+20: GPS shared  →  T+30: Police + emergency services auto-notified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TRANSPORT VERTICAL — MARKET EXPANSION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AF8"/>
                </a:solidFill>
              </a:rPr>
              <a:t>Adding Category 21 doubles the total addressable market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11155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Rideshare Platforms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463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Uber, Bolt, Lyft, DiDi  |  5M+ drivers globally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673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Why: Driver safety is their biggest PR &amp; legal liability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377440"/>
            <a:ext cx="64008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Taxi Licensing Authorities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2697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Government bodies globally  |  Millions of licensed drivers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19472" y="2907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Why: Regulatory compliance for operator licensing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61188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11880"/>
            <a:ext cx="64008" cy="111556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685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Public Bus Operators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National / metro transit agencies  |  National scale deployment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4142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Why: Duty of care, union requirements, insurance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43000"/>
            <a:ext cx="6400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Courier &amp; Delivery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1463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DHL, FedEx, Amazon Logistics  |  Global logistics fleets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9472" y="16733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Why: Lone worker safety + cargo incident compliance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37744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377440"/>
            <a:ext cx="64008" cy="11155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24505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School Bus Operators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2697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Local authority contractors  |  Regulated — every country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29077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Why: Child safety + driver welfare mandatory reporting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16052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E894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11880"/>
            <a:ext cx="64008" cy="1115568"/>
          </a:xfrm>
          <a:prstGeom prst="rect">
            <a:avLst/>
          </a:prstGeom>
          <a:solidFill>
            <a:srgbClr val="E8945A"/>
          </a:solidFill>
          <a:ln w="12700">
            <a:solidFill>
              <a:srgbClr val="E894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6850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Mining / Construction Transport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Remote site haulage operators  |  High value, high risk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9472" y="41422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Why: Remote lone workers, dangerous goods, remote GPS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86C1"/>
                </a:solidFill>
              </a:rPr>
              <a:t>At $399 per operator — less than $8 per driver for 2 years — this is below any procurement threshold in any transport company globally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2026-03-09T06:15:56Z</dcterms:created>
  <dcterms:modified xsi:type="dcterms:W3CDTF">2026-03-09T06:15:56Z</dcterms:modified>
</cp:coreProperties>
</file>